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8" r:id="rId7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59" r:id="rId8"/>
  </p:sldIdLst>
  <p:sldSz cy="6858000" cx="12192000"/>
  <p:notesSz cx="6858000" cy="9144000"/>
  <p:embeddedFontLst>
    <p:embeddedFont>
      <p:font typeface="Lato Black"/>
      <p:bold r:id="rId9"/>
      <p:boldItalic r:id="rId10"/>
    </p:embeddedFont>
    <p:embeddedFont>
      <p:font typeface="Libre Baskerville"/>
      <p:regular r:id="rId11"/>
      <p:bold r:id="rId12"/>
      <p: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font" Target="fonts/LatoBlack-bold.fntdata"/><Relationship Id="rId10" Type="http://schemas.openxmlformats.org/officeDocument/2006/relationships/font" Target="fonts/LatoBlack-boldItalic.fntdata"/><Relationship Id="rId11" Type="http://schemas.openxmlformats.org/officeDocument/2006/relationships/font" Target="fonts/LibreBaskerville-regular.fntdata"/><Relationship Id="rId12" Type="http://schemas.openxmlformats.org/officeDocument/2006/relationships/font" Target="fonts/LibreBaskerville-bold.fntdata"/><Relationship Id="rId13" Type="http://schemas.openxmlformats.org/officeDocument/2006/relationships/font" Target="fonts/LibreBaskerville-italic.fntdata"/><Relationship Id="rId14" Type="http://customschemas.google.com/relationships/presentationmetadata" Target="metadata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737360" y="3657600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400" b="1" i="0">
                <a:solidFill>
                  <a:srgbClr val="FF0000"/>
                </a:solidFill>
                <a:latin typeface="Calibri"/>
              </a:rPr>
              <a:t>Spam or Ham Detector</a:t>
            </a:r>
            <a:endParaRPr/>
          </a:p>
          <a:p>
            <a:pPr algn="ctr">
              <a:spcBef>
                <a:spcPts val="600"/>
              </a:spcBef>
            </a:pPr>
            <a:r>
              <a:rPr sz="1800" b="0" i="0">
                <a:solidFill>
                  <a:srgbClr val="404040"/>
                </a:solidFill>
                <a:latin typeface="Calibri"/>
              </a:rPr>
              <a:t>SMS Spam Classification using Machine Learning &amp; NLP</a:t>
            </a:r>
          </a:p>
          <a:p>
            <a:pPr algn="ctr">
              <a:spcBef>
                <a:spcPts val="10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EDA  |  Preprocessing  |  Model Development  |  NLP Architecture  | 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Agenda</a:t>
            </a:r>
          </a:p>
        </p:txBody>
      </p:sp>
      <p:sp>
        <p:nvSpPr>
          <p:cNvPr id="111" name="Oval 110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63040" y="1463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62626"/>
                </a:solidFill>
                <a:latin typeface="Calibri"/>
              </a:rPr>
              <a:t>Problem Statement &amp; Objective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63040" y="18288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Spam vs ham, binary classification</a:t>
            </a:r>
          </a:p>
        </p:txBody>
      </p:sp>
      <p:sp>
        <p:nvSpPr>
          <p:cNvPr id="114" name="Oval 113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46304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62626"/>
                </a:solidFill>
                <a:latin typeface="Calibri"/>
              </a:rPr>
              <a:t>Dataset Summary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63040" y="2743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5,572 messages, 2 columns</a:t>
            </a:r>
          </a:p>
        </p:txBody>
      </p:sp>
      <p:sp>
        <p:nvSpPr>
          <p:cNvPr id="117" name="Oval 116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63040" y="3291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62626"/>
                </a:solidFill>
                <a:latin typeface="Calibri"/>
              </a:rPr>
              <a:t>Data Cleaning &amp; Class Balance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63040" y="36576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Duplicates, labels, class imbalance</a:t>
            </a:r>
          </a:p>
        </p:txBody>
      </p:sp>
      <p:sp>
        <p:nvSpPr>
          <p:cNvPr id="120" name="Oval 119"/>
          <p:cNvSpPr/>
          <p:nvPr/>
        </p:nvSpPr>
        <p:spPr>
          <a:xfrm>
            <a:off x="731520" y="4251959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63040" y="4206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62626"/>
                </a:solidFill>
                <a:latin typeface="Calibri"/>
              </a:rPr>
              <a:t>EDA (Sprint 0)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63040" y="45720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Length, digits, capitals, common words</a:t>
            </a:r>
          </a:p>
        </p:txBody>
      </p:sp>
      <p:sp>
        <p:nvSpPr>
          <p:cNvPr id="123" name="Oval 122"/>
          <p:cNvSpPr/>
          <p:nvPr/>
        </p:nvSpPr>
        <p:spPr>
          <a:xfrm>
            <a:off x="731520" y="5166359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63040" y="5120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62626"/>
                </a:solidFill>
                <a:latin typeface="Calibri"/>
              </a:rPr>
              <a:t>Preprocessing (Sprint 1)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63040" y="54864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Text cleaning, split, TF-IDF, scaling</a:t>
            </a:r>
          </a:p>
        </p:txBody>
      </p:sp>
      <p:sp>
        <p:nvSpPr>
          <p:cNvPr id="126" name="Oval 125"/>
          <p:cNvSpPr/>
          <p:nvPr/>
        </p:nvSpPr>
        <p:spPr>
          <a:xfrm>
            <a:off x="6400800" y="150876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132320" y="1463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62626"/>
                </a:solidFill>
                <a:latin typeface="Calibri"/>
              </a:rPr>
              <a:t>Model Development (Sprint 2)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32320" y="18288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4 ML models compared on precision, recall, F1</a:t>
            </a:r>
          </a:p>
        </p:txBody>
      </p:sp>
      <p:sp>
        <p:nvSpPr>
          <p:cNvPr id="129" name="Oval 128"/>
          <p:cNvSpPr/>
          <p:nvPr/>
        </p:nvSpPr>
        <p:spPr>
          <a:xfrm>
            <a:off x="6400800" y="242316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13232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62626"/>
                </a:solidFill>
                <a:latin typeface="Calibri"/>
              </a:rPr>
              <a:t>NLP Architecture (Sprint 3)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132320" y="2743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Embedding + BiLSTM neural network</a:t>
            </a:r>
          </a:p>
        </p:txBody>
      </p:sp>
      <p:sp>
        <p:nvSpPr>
          <p:cNvPr id="132" name="Oval 131"/>
          <p:cNvSpPr/>
          <p:nvPr/>
        </p:nvSpPr>
        <p:spPr>
          <a:xfrm>
            <a:off x="6400800" y="333756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132320" y="3291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62626"/>
                </a:solidFill>
                <a:latin typeface="Calibri"/>
              </a:rPr>
              <a:t>Deployment (Sprint 4)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32320" y="36576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Live Streamlit web app</a:t>
            </a:r>
          </a:p>
        </p:txBody>
      </p:sp>
      <p:sp>
        <p:nvSpPr>
          <p:cNvPr id="135" name="Oval 134"/>
          <p:cNvSpPr/>
          <p:nvPr/>
        </p:nvSpPr>
        <p:spPr>
          <a:xfrm>
            <a:off x="6400800" y="4251959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132320" y="4206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62626"/>
                </a:solidFill>
                <a:latin typeface="Calibri"/>
              </a:rPr>
              <a:t>Key Findings &amp; Conclusion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132320" y="45720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What we learned and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b="0" i="0" lang="en-IN" sz="4400" u="none" cap="none" strike="noStrik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Problem Statement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94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800" b="1" i="0">
                <a:solidFill>
                  <a:srgbClr val="262626"/>
                </a:solidFill>
                <a:latin typeface="Calibri"/>
              </a:rPr>
              <a:t>Problem: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Unwanted SMS (ads, scams) are mixed in with normal messages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800" b="1" i="0">
                <a:solidFill>
                  <a:srgbClr val="262626"/>
                </a:solidFill>
                <a:latin typeface="Calibri"/>
              </a:rPr>
              <a:t>Objective: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Classify a message as spam or ham using only its text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800" b="1" i="0">
                <a:solidFill>
                  <a:srgbClr val="262626"/>
                </a:solidFill>
                <a:latin typeface="Calibri"/>
              </a:rPr>
              <a:t>Type: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Binary classification (spam = 1, ham = 0)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800" b="1" i="0">
                <a:solidFill>
                  <a:srgbClr val="262626"/>
                </a:solidFill>
                <a:latin typeface="Calibri"/>
              </a:rPr>
              <a:t>Outcome: </a:t>
            </a:r>
            <a:r>
              <a:rPr sz="1800" b="0" i="0">
                <a:solidFill>
                  <a:srgbClr val="262626"/>
                </a:solidFill>
                <a:latin typeface="Calibri"/>
              </a:rPr>
              <a:t>Compare models, pick the best one, deploy it as a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258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Questions this data can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37360"/>
            <a:ext cx="5212080" cy="82296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37960" y="1920240"/>
            <a:ext cx="457200" cy="45720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737360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Can we automatically detect unwanted or scam messages?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97480"/>
            <a:ext cx="5212080" cy="82296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60" y="2880360"/>
            <a:ext cx="457200" cy="45720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697480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How do spam messages differ from normal ones (length, digits, symbols)?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57600"/>
            <a:ext cx="5212080" cy="82296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3840480"/>
            <a:ext cx="457200" cy="45720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657600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Which words are strong signals of spam?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What the model has to tell apart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30952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WINNER!! You have been selected for a £900 prize. Call now to claim.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84632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4983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4C9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30952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Hey, are we still meeting for lunch tomorrow?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Dataset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606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C00000"/>
                </a:solidFill>
                <a:latin typeface="Calibri"/>
              </a:rPr>
              <a:t>5,572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Total messages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2588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417320"/>
            <a:ext cx="2606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1031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32588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1417320"/>
            <a:ext cx="2606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C00000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21031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Missing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399" y="132588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399" y="1417320"/>
            <a:ext cx="2606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C00000"/>
                </a:solidFill>
                <a:latin typeface="Calibri"/>
              </a:rPr>
              <a:t>13.4%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399" y="21031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Spam in raw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803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About the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4297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1" i="0">
                <a:solidFill>
                  <a:srgbClr val="262626"/>
                </a:solidFill>
                <a:latin typeface="Calibri"/>
              </a:rPr>
              <a:t>Category: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target label, categorical (spam / ham)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1" i="0">
                <a:solidFill>
                  <a:srgbClr val="262626"/>
                </a:solidFill>
                <a:latin typeface="Calibri"/>
              </a:rPr>
              <a:t>Message: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the raw SMS text, unstructured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1" i="0">
                <a:solidFill>
                  <a:srgbClr val="262626"/>
                </a:solidFill>
                <a:latin typeface="Calibri"/>
              </a:rPr>
              <a:t>Imbalanced: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ham 4,825 vs spam 747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1" i="0">
                <a:solidFill>
                  <a:srgbClr val="262626"/>
                </a:solidFill>
                <a:latin typeface="Calibri"/>
              </a:rPr>
              <a:t>No numeric columns,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so we create them from the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880360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First rows of the dataset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303520" y="3291840"/>
          <a:ext cx="6309360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52120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Message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ham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Go until jurong point, crazy.. Available only 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ham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Ok lar... Joking wif u oni...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spam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Free entry in 2 a wkly comp to win FA Cup fina...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ham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U dun say so early hor... U c already then say...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ham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Calibri"/>
                        </a:rPr>
                        <a:t>Nah I don't think he goes to usf, he lives aro...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Data Cleaning &amp; Class Balance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4937760" cy="96012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8132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Calibri"/>
              </a:rPr>
              <a:t>Missing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10512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None found in either column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4937760" cy="96012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715768"/>
            <a:ext cx="457200" cy="45720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7860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Calibri"/>
              </a:rPr>
              <a:t>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07792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415 duplicate rows removed: 5,572 → 5,157 messages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4937760" cy="96012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813048"/>
            <a:ext cx="457200" cy="45720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75887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Calibri"/>
              </a:rPr>
              <a:t>Label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05072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ham → 0, spam → 1  (ham 4,516 | spam 641)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4937760" cy="96012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910327"/>
            <a:ext cx="457200" cy="45720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73168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Calibri"/>
              </a:rPr>
              <a:t>Data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02352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Message column converted to text (string)</a:t>
            </a:r>
          </a:p>
        </p:txBody>
      </p:sp>
      <p:pic>
        <p:nvPicPr>
          <p:cNvPr id="19" name="Picture 18" descr="cell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3429000" cy="229253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20" name="Picture 19" descr="cell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371600"/>
            <a:ext cx="2184647" cy="229253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852160" y="393192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343400"/>
            <a:ext cx="5760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Imbalanced: about 88% ham and 12% spam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Accuracy alone can mislead: always guessing ham already scores ~88%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So we judge models with precision, recall and F1, and use class weights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EDA: Feature Engineering &amp; Distributions</a:t>
            </a:r>
          </a:p>
        </p:txBody>
      </p:sp>
      <p:pic>
        <p:nvPicPr>
          <p:cNvPr id="3" name="Picture 2" descr="cell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949440" cy="368707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457200" y="5150116"/>
            <a:ext cx="6949440" cy="6858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150116"/>
            <a:ext cx="6583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5 features created from each message: characters, words, digits, uppercase letters, special characters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28016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Average per message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1691640"/>
          <a:ext cx="3931920" cy="2084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1097280"/>
                <a:gridCol w="10972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Ham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Spam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char_count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70.95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137.54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word_count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14.24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23.66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digit_count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15.33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upper_count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4.02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15.55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special_count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3.87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6.04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3977639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389120"/>
            <a:ext cx="3931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Spam is about 2x longer than ham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Digits: ~15 in spam vs ~0.3 in ham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Spam uses more capitals and symbols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EDA: Outliers &amp; Correlations</a:t>
            </a:r>
          </a:p>
        </p:txBody>
      </p:sp>
      <p:pic>
        <p:nvPicPr>
          <p:cNvPr id="3" name="Picture 2" descr="cell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223760" cy="237559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4" name="Picture 3" descr="cell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280160"/>
            <a:ext cx="3645406" cy="237559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3930078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Boxplot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41558"/>
            <a:ext cx="7223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Spam has higher medians for length, digits and capitals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Both classes have outliers (very long messages); we kept them as they are real texts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Digit count separates spam from ham the 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393007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Correlation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4341558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digit_count vs spam label: 0.84 (strongest)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char_count and word_count: 0.97, almost the same feature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special_count is the weakest (0.16)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EDA: Most Common Words in Spam vs Ham</a:t>
            </a:r>
          </a:p>
        </p:txBody>
      </p:sp>
      <p:pic>
        <p:nvPicPr>
          <p:cNvPr id="3" name="Picture 2" descr="cell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589520" cy="322062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457200" y="4729384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29384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534F"/>
                </a:solidFill>
                <a:latin typeface="Calibri"/>
              </a:rPr>
              <a:t>Spam = promotional words that ask you to 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729384"/>
            <a:ext cx="3657600" cy="731520"/>
          </a:xfrm>
          <a:prstGeom prst="roundRect">
            <a:avLst>
              <a:gd name="adj" fmla="val 6000"/>
            </a:avLst>
          </a:prstGeom>
          <a:solidFill>
            <a:srgbClr val="E6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729384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F7A50"/>
                </a:solidFill>
                <a:latin typeface="Calibri"/>
              </a:rPr>
              <a:t>Ham = casual, everyday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801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3291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Spam: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free, txt, stop, mobile, reply, claim, prize, cash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500" b="1" i="0">
                <a:solidFill>
                  <a:srgbClr val="262626"/>
                </a:solidFill>
                <a:latin typeface="Calibri"/>
              </a:rPr>
              <a:t>Ham: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just, ok, got, know, like, good, love, day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Words like free, claim and prize will be strong features for the model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‘gt’ and ‘lt’ in ham are leftovers of &amp;gt; and &amp;lt; symbols in the raw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Sprint 1: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103120" cy="260604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Calibri"/>
              </a:rPr>
              <a:t>Clean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783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Lowercase, keep letters only, remove stopwords, Porter stemming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371600"/>
            <a:ext cx="2103120" cy="260604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9232" y="155448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2402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Calibri"/>
              </a:rPr>
              <a:t>Train / Test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651760"/>
            <a:ext cx="1783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80% / 20% stratified: 4,125 train, 1,032 test (12.4% spam in both)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371600"/>
            <a:ext cx="2103120" cy="260604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22402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Calibri"/>
              </a:rPr>
              <a:t>TF-IDF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2651760"/>
            <a:ext cx="1783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Top 5,000 words and word pairs (1-2 grams), fitted on train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1775" y="1371600"/>
            <a:ext cx="2103120" cy="260604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34655" y="155448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5" y="22402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Calibri"/>
              </a:rPr>
              <a:t>Scale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5" y="2651760"/>
            <a:ext cx="1783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MinMax scale the 5 count features to a 0-1 range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9488" y="1371600"/>
            <a:ext cx="2103120" cy="260604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02367" y="1554480"/>
            <a:ext cx="502920" cy="50292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7" y="22402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Calibri"/>
              </a:rPr>
              <a:t>Combine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7" y="2651760"/>
            <a:ext cx="1783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Stack TF-IDF + numeric features = 5,005 features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6766560" cy="15544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891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0000"/>
                </a:solidFill>
                <a:latin typeface="Calibri"/>
              </a:rPr>
              <a:t>Example: text cleaning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006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alibri"/>
              </a:rPr>
              <a:t>Before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8006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Ok lar... Joking wif u oni...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57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alibri"/>
              </a:rPr>
              <a:t>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57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ok lar joke wif u oni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297680"/>
            <a:ext cx="4023360" cy="155448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43891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Saved for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80060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tfidf.pkl and scaler.pkl are saved with joblib, so the app applies the exact same steps.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Sprint 2: Model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035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4 models trained on the same 5,005 features, tested on 1,032 unseen messages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74519"/>
          <a:ext cx="603504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1005840"/>
                <a:gridCol w="1005840"/>
                <a:gridCol w="100584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Linear SVM</a:t>
                      </a:r>
                    </a:p>
                  </a:txBody>
                  <a:tcPr anchor="ctr" marL="73152" marR="73152" marT="27432" marB="27432">
                    <a:solidFill>
                      <a:srgbClr val="FB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0.9874</a:t>
                      </a:r>
                    </a:p>
                  </a:txBody>
                  <a:tcPr anchor="ctr" marL="73152" marR="73152" marT="27432" marB="27432">
                    <a:solidFill>
                      <a:srgbClr val="FB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0.9675</a:t>
                      </a:r>
                    </a:p>
                  </a:txBody>
                  <a:tcPr anchor="ctr" marL="73152" marR="73152" marT="27432" marB="27432">
                    <a:solidFill>
                      <a:srgbClr val="FB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0.9297</a:t>
                      </a:r>
                    </a:p>
                  </a:txBody>
                  <a:tcPr anchor="ctr" marL="73152" marR="73152" marT="27432" marB="27432">
                    <a:solidFill>
                      <a:srgbClr val="FB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0.9482</a:t>
                      </a:r>
                    </a:p>
                  </a:txBody>
                  <a:tcPr anchor="ctr" marL="73152" marR="73152" marT="27432" marB="27432">
                    <a:solidFill>
                      <a:srgbClr val="FBE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0.9845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0.9746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0.8984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0.9350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0.9806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0.8438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0.9153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0.9748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0.7969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0.8870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6035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Accuracy is 97-99% for every model, so recall and F1 decide the winner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Naive Bayes and Random Forest: precision 1.00 but they miss too much spam (recall 0.80 and 0.84)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Linear SVM gives the best balance of catching spam and avoiding false alarms</a:t>
            </a:r>
          </a:p>
        </p:txBody>
      </p:sp>
      <p:pic>
        <p:nvPicPr>
          <p:cNvPr id="6" name="Picture 5" descr="cell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240110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858000" y="4047028"/>
            <a:ext cx="4846320" cy="118872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412018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Best model: Linear 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6413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F1 0.948  |  Recall 0.930  |  Precision 0.968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Sprint 2: Evaluating the Best Model</a:t>
            </a:r>
          </a:p>
        </p:txBody>
      </p:sp>
      <p:pic>
        <p:nvPicPr>
          <p:cNvPr id="3" name="Picture 2" descr="cell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426450" cy="452628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0000"/>
                </a:solidFill>
                <a:latin typeface="Calibri"/>
              </a:rPr>
              <a:t>Linear SVM: classification report (test set)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91640"/>
          <a:ext cx="5212080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1051560"/>
                <a:gridCol w="1005840"/>
                <a:gridCol w="960120"/>
                <a:gridCol w="10058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anchor="ctr" marL="73152" marR="73152" marT="27432" marB="27432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ham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904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spam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anchor="ctr" marL="73152" marR="73152" marT="27432" marB="27432">
                    <a:solidFill>
                      <a:srgbClr val="F4F4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1,032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520440"/>
            <a:ext cx="52120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Linear SVM got 900 ham and 119 spam correct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Only 9 spam missed and 4 ham wrongly flagged as spam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Fewer missed spam than Naive Bayes (26), Random Forest (20) and Logistic Regression (13)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Saved as model.pkl for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Sprint 3: NLP Architecture (BiLSTM)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Text Vectorization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"/>
              </a:rPr>
              <a:t>5,000 words, 50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17320"/>
            <a:ext cx="2194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D90000"/>
                </a:solidFill>
                <a:latin typeface="Calibri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14016" y="128016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14016" y="13441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737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"/>
              </a:rPr>
              <a:t>64 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9936" y="1417320"/>
            <a:ext cx="2194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D90000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28016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13441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BiLSTM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1737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"/>
              </a:rPr>
              <a:t>32 units each 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1417320"/>
            <a:ext cx="2194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D90000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8016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3441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Dropout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737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"/>
              </a:rPr>
              <a:t>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1417320"/>
            <a:ext cx="2194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D90000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28016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13441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Dense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1737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"/>
              </a:rPr>
              <a:t>16 units, ReLU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064" y="1417320"/>
            <a:ext cx="2194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D90000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19" y="128016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19" y="13441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737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"/>
              </a:rPr>
              <a:t>1 unit, sigmoid</a:t>
            </a:r>
          </a:p>
        </p:txBody>
      </p:sp>
      <p:pic>
        <p:nvPicPr>
          <p:cNvPr id="26" name="Picture 25" descr="cell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6035040" cy="197953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27" name="Picture 26" descr="cell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68880"/>
            <a:ext cx="2715514" cy="197953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8" name="Rounded Rectangle 27"/>
          <p:cNvSpPr/>
          <p:nvPr/>
        </p:nvSpPr>
        <p:spPr>
          <a:xfrm>
            <a:off x="9829800" y="2468880"/>
            <a:ext cx="1828800" cy="1979533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25146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F1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78892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0.881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4747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749039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0.836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22733"/>
            <a:ext cx="110642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Trained with class weights (spam counted ~7x) and early stopping; best epoch (4 of 7) was restored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Test results: accuracy 0.972, precision 0.930, recall 0.836, F1 0.881</a:t>
            </a:r>
          </a:p>
          <a:p>
            <a:pPr marL="228600" indent="-228600">
              <a:spcAft>
                <a:spcPts val="800"/>
              </a:spcAft>
              <a:buClr>
                <a:srgbClr val="D90000"/>
              </a:buClr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It did not beat Linear SVM: the dataset is small and it does not use the engineered numeric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Sprint 4: Deployment with Streamlit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Calibri"/>
              </a:rPr>
              <a:t>1  User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Paste an SMS into the text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645920"/>
            <a:ext cx="2468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D90000"/>
                </a:solidFill>
                <a:latin typeface="Calibri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3258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1417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Calibri"/>
              </a:rPr>
              <a:t>2  Preprocess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182880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Same clean_text and 5 count features as the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1645920"/>
            <a:ext cx="2468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D90000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13258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417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Calibri"/>
              </a:rPr>
              <a:t>3  Vectorize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182880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Saved TF-IDF and scaler, stacked together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376" y="1645920"/>
            <a:ext cx="2468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D90000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3" y="13258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417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Calibri"/>
              </a:rPr>
              <a:t>4  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182880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Saved Linear SVM gives SPAM or HAM plus a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1" i="0">
                <a:solidFill>
                  <a:srgbClr val="262626"/>
                </a:solidFill>
                <a:latin typeface="Calibri"/>
              </a:rPr>
              <a:t>Built with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Streamlit in app.py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1" i="0">
                <a:solidFill>
                  <a:srgbClr val="262626"/>
                </a:solidFill>
                <a:latin typeface="Calibri"/>
              </a:rPr>
              <a:t>Loads once: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model.pkl, tfidf.pkl and scaler.pkl (cached)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1" i="0">
                <a:solidFill>
                  <a:srgbClr val="262626"/>
                </a:solidFill>
                <a:latin typeface="Calibri"/>
              </a:rPr>
              <a:t>Output: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red SPAM or green HAM result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1" i="0">
                <a:solidFill>
                  <a:srgbClr val="262626"/>
                </a:solidFill>
                <a:latin typeface="Calibri"/>
              </a:rPr>
              <a:t>Model score: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above 0 leans spam, below 0 leans ham; further from 0 means more confident</a:t>
            </a:r>
          </a:p>
          <a:p>
            <a:pPr marL="228600" indent="-228600">
              <a:spcAft>
                <a:spcPts val="1000"/>
              </a:spcAft>
              <a:buClr>
                <a:srgbClr val="D90000"/>
              </a:buClr>
              <a:buChar char="•"/>
            </a:pPr>
            <a:r>
              <a:rPr sz="1600" b="1" i="0">
                <a:solidFill>
                  <a:srgbClr val="262626"/>
                </a:solidFill>
                <a:latin typeface="Calibri"/>
              </a:rPr>
              <a:t>Run with: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streamlit run app.py</a:t>
            </a:r>
          </a:p>
        </p:txBody>
      </p:sp>
      <p:pic>
        <p:nvPicPr>
          <p:cNvPr id="19" name="Picture 18" descr="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063240"/>
            <a:ext cx="4663440" cy="275770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6949440" y="58521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Running app: spam message detected, model score 1.01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 anchor="ctr"/>
          <a:lstStyle/>
          <a:p>
            <a:pPr algn="l"/>
            <a:r>
              <a:rPr sz="3200" b="1" i="0">
                <a:solidFill>
                  <a:srgbClr val="FF0000"/>
                </a:solidFill>
                <a:latin typeface="Calibri"/>
              </a:rPr>
              <a:t>Key Findings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62626"/>
                </a:solidFill>
                <a:latin typeface="Calibri"/>
              </a:rPr>
              <a:t>What EDA showed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Data is imbalanced: 12% spam, 88% ham</a:t>
            </a:r>
          </a:p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Spam is longer, with more digits and capitals</a:t>
            </a:r>
          </a:p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Digit count is the strongest signal (0.84)</a:t>
            </a:r>
          </a:p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Spam words: free, claim, prize, cash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132588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98848" y="1508760"/>
            <a:ext cx="457200" cy="45720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150876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62626"/>
                </a:solidFill>
                <a:latin typeface="Calibri"/>
              </a:rPr>
              <a:t>What the models showed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28600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4 ML models and 1 BiLSTM compared</a:t>
            </a:r>
          </a:p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Linear SVM won: F1 0.948, accuracy 98.7%</a:t>
            </a:r>
          </a:p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BiLSTM (F1 0.881) did not beat it on small data</a:t>
            </a:r>
          </a:p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Deployed as a Streamlit web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2588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0456" y="1508760"/>
            <a:ext cx="457200" cy="457200"/>
          </a:xfrm>
          <a:prstGeom prst="ellipse">
            <a:avLst/>
          </a:prstGeom>
          <a:solidFill>
            <a:srgbClr val="D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14816" y="150876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62626"/>
                </a:solidFill>
                <a:latin typeface="Calibri"/>
              </a:rP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28600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Tune the decision threshold to catch more spam</a:t>
            </a:r>
          </a:p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Try pretrained transformers such as BERT</a:t>
            </a:r>
          </a:p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Feed numeric features into the neural network</a:t>
            </a:r>
          </a:p>
          <a:p>
            <a:pPr marL="228600" indent="-228600">
              <a:spcAft>
                <a:spcPts val="1200"/>
              </a:spcAft>
              <a:buClr>
                <a:srgbClr val="D90000"/>
              </a:buClr>
              <a:buChar char="•"/>
            </a:pPr>
            <a:r>
              <a:rPr sz="1600" b="0" i="0">
                <a:solidFill>
                  <a:srgbClr val="262626"/>
                </a:solidFill>
                <a:latin typeface="Calibri"/>
              </a:rPr>
              <a:t>Add more recent spam examples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40680"/>
            <a:ext cx="9326880" cy="64008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8961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Result: a working spam detector that catches 93% of spam with 97% precision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2021-02-16T05:19:01Z</dcterms:created>
  <dc:creator>Raghu Ram Aduri</dc:creator>
</cp:coreProperties>
</file>